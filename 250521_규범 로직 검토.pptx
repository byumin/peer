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56" r:id="rId3"/>
    <p:sldId id="274" r:id="rId4"/>
    <p:sldId id="275" r:id="rId5"/>
    <p:sldId id="257" r:id="rId6"/>
    <p:sldId id="276" r:id="rId7"/>
    <p:sldId id="266" r:id="rId8"/>
    <p:sldId id="277" r:id="rId9"/>
    <p:sldId id="279" r:id="rId10"/>
    <p:sldId id="278" r:id="rId11"/>
    <p:sldId id="262" r:id="rId12"/>
    <p:sldId id="263" r:id="rId13"/>
    <p:sldId id="264" r:id="rId14"/>
    <p:sldId id="265" r:id="rId15"/>
    <p:sldId id="267" r:id="rId16"/>
    <p:sldId id="268" r:id="rId17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D50"/>
    <a:srgbClr val="D7DBE4"/>
    <a:srgbClr val="7986A7"/>
    <a:srgbClr val="A0A9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498F9CD-F5CE-48FF-8A90-5434A87CBC87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FFB4C4F-4965-4FBE-A5E8-32FEF66452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6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B4C4F-4965-4FBE-A5E8-32FEF664527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63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E428-B712-B9D9-4C4E-B151C9BC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DC395A-84BE-A28C-49DB-974D77FB9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5575D-2147-5967-42D1-72A90805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0AEE66-8D1F-26C2-C969-85059D95A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B4C4F-4965-4FBE-A5E8-32FEF664527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732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C3500-3039-D8D1-C798-F28B22153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07D74B-7484-C4D0-6177-8F3BCCEEC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95A31-A028-AE3B-F322-6E726498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A2F83-4FC4-13C3-0B5E-26C513C5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DA078-9CC3-A295-3DD1-7CC42F9E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46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6AD34-7B1E-C3FB-21BA-E17A4B44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0AFB4-4724-740A-BB70-2B36422FE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2A6B5-523B-6859-ED63-358BF58A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61FCA-F0AD-3F35-C477-7E59B866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37D5A-2FCA-7225-5CC0-7C31EB03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27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E8C23-A58B-53B7-721E-58F9349DC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4E80CF-FE1F-E0D2-2313-2CD13455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213ED-56AC-7947-26A3-082EEC8B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C6BB2-2CEC-1636-E800-082A7BF9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D7CE8-311C-163A-E768-E8FF60D2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442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D905A-5B28-BB8B-CA65-617EC1C6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DDF85D-EF1B-BA8B-BDE4-3DC5FDFA2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5F8064-9897-E274-0A1E-DB082AD5B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5FF87D-7CDB-41B5-7DCC-3FBB803D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9510DA-8951-8A84-39EC-75DC8460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A3217C-A6E7-769E-681C-22957138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97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E33E4-6845-2AA0-DC42-8DF1CE57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539BC-5CF5-746B-473A-C5F7588A2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DA90CE-3176-1278-AC87-5CBB50937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D19749-9BFB-1EDF-4DFC-C3624423A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E73044-5521-97DD-7386-CD09E13CF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764E23-1549-69FC-C50B-3E88C3F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D744C0-E256-F7D4-71C3-78C8E3A1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AA98B3-9C2A-40BD-A63C-240CE46F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80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7012D-70B6-1071-5E19-E63E140B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C2CD4E-092F-9512-6D78-C5491F6D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54193E-4743-DBD1-955E-7D4CBF05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DF6428-85B8-9E52-2CCA-035728C7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1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D828DA-CA51-66F8-662A-7FF956B5C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954675-957A-F305-D296-B9B44D52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DD18A-0506-035E-BCCF-74DB42E6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9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0EB5D-28B8-E59B-81B6-2221E364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E3502-EEA7-FF13-310C-9AEEDEB2A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8C2941-F863-E507-22E8-CF8A0F9D7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8E8C9-9D77-37D6-9BA9-1F0DD2AA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45F78-1CFC-B9E7-6EBB-EC22C9E0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BA4B48-B277-08DB-398F-223E3B75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35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55EF6-D41B-00A8-0A00-707B9CCE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E06620-5180-2B1B-AEFB-C0EA754B7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56D961-E4B0-CA2C-0CFF-D6CC7ABA7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8FD392-A1B1-BB19-9BB0-91B256C7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2E86B-58F9-EC66-1F03-E61EBED1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9CA5DC-E99A-5635-4632-7D9FCF99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069D0-1E66-5752-9429-235284A8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3987BF-0766-B579-B0CB-761EF81F7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7D822F-FEA0-55F1-C7F7-58A01A66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0B18B-5170-9C3D-0211-21EFB8D52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BFE091-D2E5-ECEE-A220-73F4338C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38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0556C4-75FF-6F94-0EAA-FC9D6180C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EAA907-6EE8-2F16-D46A-08103DE8E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33752-5D66-6AF6-2313-82EFB2DE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37A16-0A1F-5A5E-8C35-71496017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8796B4-E81E-D764-8E6B-AA92EC70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30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99">
            <a:extLst>
              <a:ext uri="{FF2B5EF4-FFF2-40B4-BE49-F238E27FC236}">
                <a16:creationId xmlns:a16="http://schemas.microsoft.com/office/drawing/2014/main" id="{5A19CFBF-3EFC-6A0F-6AB9-2DA6FF28BF98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5386388"/>
          <a:ext cx="10947400" cy="692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1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Document Version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Last Updated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Organization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Author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3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6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제목 개체 틀 9"/>
          <p:cNvSpPr>
            <a:spLocks noGrp="1"/>
          </p:cNvSpPr>
          <p:nvPr>
            <p:ph type="title"/>
          </p:nvPr>
        </p:nvSpPr>
        <p:spPr>
          <a:xfrm>
            <a:off x="380571" y="2274590"/>
            <a:ext cx="11284048" cy="5760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33" i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5329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1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32888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2" name="텍스트 개체 틀 17"/>
          <p:cNvSpPr>
            <a:spLocks noGrp="1"/>
          </p:cNvSpPr>
          <p:nvPr>
            <p:ph type="body" sz="quarter" idx="12"/>
          </p:nvPr>
        </p:nvSpPr>
        <p:spPr>
          <a:xfrm>
            <a:off x="6012690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3" name="텍스트 개체 틀 17"/>
          <p:cNvSpPr>
            <a:spLocks noGrp="1"/>
          </p:cNvSpPr>
          <p:nvPr>
            <p:ph type="body" sz="quarter" idx="13"/>
          </p:nvPr>
        </p:nvSpPr>
        <p:spPr>
          <a:xfrm>
            <a:off x="8758899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173107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81CF50-40BA-5C10-61A6-DBBB6041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8F315-3D3F-0791-ECCA-4A272EB39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F1F9B-4FC3-7FA0-ADA0-7687D9DAC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C83EA-D533-4362-BC68-0C0C847619C8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BBF9A-211B-AFB6-163D-19BF4E5C0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CF860-88F6-B2D4-458E-04B2F2862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0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3F3194-F3CB-D4FA-71FC-35BE27E39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1.0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0C61B6-8869-FC5A-1927-7BC9180B7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93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2025.05.21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52FE14-90AF-20BC-7BB7-C6DFE951D2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345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ko-KR" altLang="en-US" dirty="0" err="1"/>
              <a:t>인싸이트</a:t>
            </a:r>
            <a:r>
              <a:rPr lang="ko-KR" altLang="en-US" dirty="0"/>
              <a:t> 연구개발팀</a:t>
            </a:r>
          </a:p>
        </p:txBody>
      </p:sp>
      <p:sp>
        <p:nvSpPr>
          <p:cNvPr id="4102" name="텍스트 개체 틀 5">
            <a:extLst>
              <a:ext uri="{FF2B5EF4-FFF2-40B4-BE49-F238E27FC236}">
                <a16:creationId xmlns:a16="http://schemas.microsoft.com/office/drawing/2014/main" id="{268E0C3A-D21C-FF3B-CAE2-6505EBB2A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8238" y="5751513"/>
            <a:ext cx="2689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부유민</a:t>
            </a:r>
          </a:p>
        </p:txBody>
      </p:sp>
      <p:sp>
        <p:nvSpPr>
          <p:cNvPr id="10" name="제목 개체 틀 9">
            <a:extLst>
              <a:ext uri="{FF2B5EF4-FFF2-40B4-BE49-F238E27FC236}">
                <a16:creationId xmlns:a16="http://schemas.microsoft.com/office/drawing/2014/main" id="{0AABEC61-5EAB-0678-584A-A0EF6F14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78" y="2226659"/>
            <a:ext cx="10990245" cy="57606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sz="2200" b="1" spc="-150" dirty="0">
                <a:solidFill>
                  <a:srgbClr val="353D50"/>
                </a:solidFill>
              </a:rPr>
              <a:t>규범 로직 검증 및 대안 탐색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1F81D92-C1D6-4676-0E30-DA285F9498CE}"/>
              </a:ext>
            </a:extLst>
          </p:cNvPr>
          <p:cNvCxnSpPr>
            <a:cxnSpLocks/>
          </p:cNvCxnSpPr>
          <p:nvPr/>
        </p:nvCxnSpPr>
        <p:spPr>
          <a:xfrm>
            <a:off x="630555" y="2180939"/>
            <a:ext cx="10816908" cy="0"/>
          </a:xfrm>
          <a:prstGeom prst="line">
            <a:avLst/>
          </a:prstGeom>
          <a:ln w="19050">
            <a:solidFill>
              <a:srgbClr val="175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DC041F-7E4C-9C2E-E60D-6A2C9AA1AEDE}"/>
              </a:ext>
            </a:extLst>
          </p:cNvPr>
          <p:cNvSpPr/>
          <p:nvPr/>
        </p:nvSpPr>
        <p:spPr>
          <a:xfrm>
            <a:off x="630555" y="2161889"/>
            <a:ext cx="10816908" cy="45720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179051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4FCE33-286F-79FC-464B-48D9959AFBA2}"/>
              </a:ext>
            </a:extLst>
          </p:cNvPr>
          <p:cNvSpPr/>
          <p:nvPr/>
        </p:nvSpPr>
        <p:spPr>
          <a:xfrm>
            <a:off x="442913" y="789063"/>
            <a:ext cx="11341100" cy="1076682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637C96-F971-869A-1E90-73E94D3D52E7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공격성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친사회성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규범 로직 검증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51F68-8657-7F62-5D39-551F2346B1EA}"/>
              </a:ext>
            </a:extLst>
          </p:cNvPr>
          <p:cNvSpPr txBox="1"/>
          <p:nvPr/>
        </p:nvSpPr>
        <p:spPr>
          <a:xfrm>
            <a:off x="500177" y="830383"/>
            <a:ext cx="10521191" cy="9627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구조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및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친사회성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관련 또래지명 문항의 비율점수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친한 친구 지명 문항의 비율점수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집단 내에서 공격적 행동이 반에서 어느 정도 용인되거나 오히려 인정받는지를 측정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규범</a:t>
            </a:r>
            <a:endParaRPr lang="en-US" altLang="ko-KR" sz="15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집단 내에서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친사회적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행동이 반에서 얼마나 승인되고 장려되는지를 측정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5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친사회성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규범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F56671A-DAAA-5570-45F0-03808E351214}"/>
              </a:ext>
            </a:extLst>
          </p:cNvPr>
          <p:cNvGrpSpPr/>
          <p:nvPr/>
        </p:nvGrpSpPr>
        <p:grpSpPr>
          <a:xfrm>
            <a:off x="761443" y="2163719"/>
            <a:ext cx="9258857" cy="934661"/>
            <a:chOff x="761443" y="2258294"/>
            <a:chExt cx="8444117" cy="93466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C9BF831-E499-A839-5F92-53351409CF61}"/>
                </a:ext>
              </a:extLst>
            </p:cNvPr>
            <p:cNvSpPr txBox="1"/>
            <p:nvPr/>
          </p:nvSpPr>
          <p:spPr>
            <a:xfrm>
              <a:off x="761443" y="2258294"/>
              <a:ext cx="2101829" cy="340519"/>
            </a:xfrm>
            <a:prstGeom prst="roundRect">
              <a:avLst/>
            </a:prstGeom>
            <a:solidFill>
              <a:srgbClr val="353D5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tabLst>
                  <a:tab pos="2159000" algn="l"/>
                </a:tabLst>
              </a:pPr>
              <a:r>
                <a:rPr lang="ko-KR" altLang="en-US" sz="14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점수 스케일의 문제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E306B4-6760-E9BF-496D-E1EB2539E62A}"/>
                </a:ext>
              </a:extLst>
            </p:cNvPr>
            <p:cNvSpPr txBox="1"/>
            <p:nvPr/>
          </p:nvSpPr>
          <p:spPr>
            <a:xfrm>
              <a:off x="784987" y="2700512"/>
              <a:ext cx="8420573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두 개의 비율을 곱하므로 일반적으로 </a:t>
              </a:r>
              <a:r>
                <a:rPr lang="en-US" altLang="ko-KR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0.0x </a:t>
              </a:r>
              <a:r>
                <a:rPr lang="ko-KR" altLang="en-US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단위의 매우 작은 수를 가지가 됨</a:t>
              </a:r>
              <a:r>
                <a:rPr lang="en-US" altLang="ko-KR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</a:p>
            <a:p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특히 지명활성도가 낮으면 대부분의 점수가 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0.000~0.05 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사이로 축소되어 시각적으로나 통계적으로 미미하게 보일 수 있습니다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517A61-CD91-FCB4-A0F3-36BF57E104CA}"/>
              </a:ext>
            </a:extLst>
          </p:cNvPr>
          <p:cNvGrpSpPr/>
          <p:nvPr/>
        </p:nvGrpSpPr>
        <p:grpSpPr>
          <a:xfrm>
            <a:off x="761443" y="4543581"/>
            <a:ext cx="8444117" cy="934661"/>
            <a:chOff x="761443" y="4469941"/>
            <a:chExt cx="8444117" cy="934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5A9486-A6A2-D763-5945-81A53AF22583}"/>
                </a:ext>
              </a:extLst>
            </p:cNvPr>
            <p:cNvSpPr txBox="1"/>
            <p:nvPr/>
          </p:nvSpPr>
          <p:spPr>
            <a:xfrm>
              <a:off x="761443" y="4469941"/>
              <a:ext cx="2101829" cy="340519"/>
            </a:xfrm>
            <a:prstGeom prst="roundRect">
              <a:avLst/>
            </a:prstGeom>
            <a:solidFill>
              <a:srgbClr val="353D5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tabLst>
                  <a:tab pos="2159000" algn="l"/>
                </a:tabLst>
              </a:pPr>
              <a:r>
                <a:rPr lang="en-US" altLang="ko-KR" sz="14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 포함된 경우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D84F09-35C0-0124-D034-ED8F4366E13B}"/>
                </a:ext>
              </a:extLst>
            </p:cNvPr>
            <p:cNvSpPr txBox="1"/>
            <p:nvPr/>
          </p:nvSpPr>
          <p:spPr>
            <a:xfrm>
              <a:off x="784987" y="4912159"/>
              <a:ext cx="8420573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공격성 및 </a:t>
              </a:r>
              <a:r>
                <a:rPr lang="ko-KR" altLang="en-US" sz="1300" b="0" i="0" dirty="0" err="1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친사회성</a:t>
              </a:r>
              <a:r>
                <a:rPr lang="ko-KR" altLang="en-US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비율점수가 </a:t>
              </a:r>
              <a:r>
                <a:rPr lang="en-US" altLang="ko-KR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이거나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가장 친한 친구 비율점수가 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 경우 결과가 무조건 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으로 귀결됨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</a:p>
            <a:p>
              <a:r>
                <a:rPr lang="ko-KR" altLang="en-US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이는 일부 학생이 공격성이 높지만 친한 친구가 없는 경우 학급 내 규범이 존재하는데도 결과에 반영되지 않습니다</a:t>
              </a:r>
              <a:r>
                <a:rPr lang="en-US" altLang="ko-KR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BA5EB99-A845-8203-0728-7B0B38EBDF41}"/>
              </a:ext>
            </a:extLst>
          </p:cNvPr>
          <p:cNvGrpSpPr/>
          <p:nvPr/>
        </p:nvGrpSpPr>
        <p:grpSpPr>
          <a:xfrm>
            <a:off x="761443" y="5733511"/>
            <a:ext cx="8444117" cy="934661"/>
            <a:chOff x="761443" y="5733511"/>
            <a:chExt cx="8444117" cy="9346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AB0A40-921F-0E04-345B-6827C65CA06A}"/>
                </a:ext>
              </a:extLst>
            </p:cNvPr>
            <p:cNvSpPr txBox="1"/>
            <p:nvPr/>
          </p:nvSpPr>
          <p:spPr>
            <a:xfrm>
              <a:off x="761443" y="5733511"/>
              <a:ext cx="2101829" cy="340519"/>
            </a:xfrm>
            <a:prstGeom prst="roundRect">
              <a:avLst/>
            </a:prstGeom>
            <a:solidFill>
              <a:srgbClr val="353D5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tabLst>
                  <a:tab pos="2159000" algn="l"/>
                </a:tabLst>
              </a:pPr>
              <a:r>
                <a:rPr lang="ko-KR" altLang="en-US" sz="14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의미 해석의 불명확성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045708-6271-7558-583C-57AB15EF1ED1}"/>
                </a:ext>
              </a:extLst>
            </p:cNvPr>
            <p:cNvSpPr txBox="1"/>
            <p:nvPr/>
          </p:nvSpPr>
          <p:spPr>
            <a:xfrm>
              <a:off x="784987" y="6175729"/>
              <a:ext cx="8420573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곱셈 로직은 공격적 및 </a:t>
              </a:r>
              <a:r>
                <a:rPr lang="ko-KR" altLang="en-US" sz="13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친사회적이면서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친구로도 인정 받은 케이스만 점수를 주기 때문에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</a:t>
              </a:r>
            </a:p>
            <a:p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배척당한 학생의 경우는 무시되어 실제론 공격적이지만 공격적이지 않은 학급 분위기로 해석 될 수 있습니다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  <a:endParaRPr lang="en-US" altLang="ko-KR" sz="1300" dirty="0">
                <a:solidFill>
                  <a:srgbClr val="5C698A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56FB783-A1F9-0830-7A94-36382BF6EC25}"/>
              </a:ext>
            </a:extLst>
          </p:cNvPr>
          <p:cNvSpPr/>
          <p:nvPr/>
        </p:nvSpPr>
        <p:spPr>
          <a:xfrm>
            <a:off x="8395855" y="5683240"/>
            <a:ext cx="544946" cy="277091"/>
          </a:xfrm>
          <a:prstGeom prst="rightArrow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C26C0-8432-1892-AE16-BA41C12DDBA9}"/>
              </a:ext>
            </a:extLst>
          </p:cNvPr>
          <p:cNvSpPr txBox="1"/>
          <p:nvPr/>
        </p:nvSpPr>
        <p:spPr>
          <a:xfrm>
            <a:off x="9033164" y="5275481"/>
            <a:ext cx="2750849" cy="1092607"/>
          </a:xfrm>
          <a:prstGeom prst="rect">
            <a:avLst/>
          </a:prstGeom>
          <a:noFill/>
          <a:ln>
            <a:solidFill>
              <a:srgbClr val="353D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300" b="1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그러나</a:t>
            </a:r>
            <a:r>
              <a:rPr lang="en-US" altLang="ko-KR" sz="1300" b="1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3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공격적이지만 단절되어 친구 지명이 않거나 낮으면</a:t>
            </a:r>
            <a:r>
              <a:rPr lang="en-US" altLang="ko-KR" sz="13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3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규범 결과가 </a:t>
            </a:r>
            <a:r>
              <a:rPr lang="en-US" altLang="ko-KR" sz="13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13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이거나 낮기 때문에 측정 손실이 아니라 올바른 해석을 반영한 것</a:t>
            </a:r>
            <a:r>
              <a:rPr lang="en-US" altLang="ko-KR" sz="13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300" b="1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83044F0-49CD-7BDC-85E4-A178C66E0697}"/>
              </a:ext>
            </a:extLst>
          </p:cNvPr>
          <p:cNvGrpSpPr/>
          <p:nvPr/>
        </p:nvGrpSpPr>
        <p:grpSpPr>
          <a:xfrm>
            <a:off x="761443" y="3353650"/>
            <a:ext cx="8444117" cy="934661"/>
            <a:chOff x="761443" y="3364117"/>
            <a:chExt cx="8444117" cy="9346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95AC5F-A4BC-4EE9-F3C7-92C2FB2CF60A}"/>
                </a:ext>
              </a:extLst>
            </p:cNvPr>
            <p:cNvSpPr txBox="1"/>
            <p:nvPr/>
          </p:nvSpPr>
          <p:spPr>
            <a:xfrm>
              <a:off x="761443" y="3364117"/>
              <a:ext cx="2101829" cy="340519"/>
            </a:xfrm>
            <a:prstGeom prst="roundRect">
              <a:avLst/>
            </a:prstGeom>
            <a:solidFill>
              <a:srgbClr val="353D5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tabLst>
                  <a:tab pos="2159000" algn="l"/>
                </a:tabLst>
              </a:pPr>
              <a:r>
                <a:rPr lang="ko-KR" altLang="en-US" sz="14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평균 로직의 문제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8AAFB2-5404-2C2C-C8C9-3ED92443EE18}"/>
                </a:ext>
              </a:extLst>
            </p:cNvPr>
            <p:cNvSpPr txBox="1"/>
            <p:nvPr/>
          </p:nvSpPr>
          <p:spPr>
            <a:xfrm>
              <a:off x="784987" y="3806335"/>
              <a:ext cx="8420573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0" i="0" dirty="0">
                  <a:effectLst/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특정 한 두명의 규범점수가 높은 학급이라면 평균으로 산출 시</a:t>
              </a:r>
              <a:endParaRPr lang="en-US" altLang="ko-KR" sz="13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학급의 규범점수는 낮은 규범점수 학생들이 더 많기 때문에 낮은 쪽으로 왜곡되게 나타나 해석에 오류가 발생할 수 있습니다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990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40CF-9A96-0F25-F25E-5B41E348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52079D-C536-6478-C2AC-4A6EE653F062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점수 스케일의 보완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5DDDE5-F3F5-43FC-6144-4A8AC0E6EBF6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110C5-F601-6441-6F0D-E0F21EDCF102}"/>
              </a:ext>
            </a:extLst>
          </p:cNvPr>
          <p:cNvSpPr txBox="1"/>
          <p:nvPr/>
        </p:nvSpPr>
        <p:spPr>
          <a:xfrm>
            <a:off x="500177" y="993516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지명 비율점수 산출할 경우 스케일 문제로 지명횟수로 대체해 산출 아래와 같이 산출해보았습니다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14D443-A449-F203-FC68-BE424DD834E3}"/>
                  </a:ext>
                </a:extLst>
              </p:cNvPr>
              <p:cNvSpPr txBox="1"/>
              <p:nvPr/>
            </p:nvSpPr>
            <p:spPr>
              <a:xfrm>
                <a:off x="1828277" y="2302785"/>
                <a:ext cx="911384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0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en-US" altLang="ko-KR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14D443-A449-F203-FC68-BE424DD83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277" y="2302785"/>
                <a:ext cx="911384" cy="391646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7DA6A7-1422-638F-DD48-E55DED8E0604}"/>
                  </a:ext>
                </a:extLst>
              </p:cNvPr>
              <p:cNvSpPr txBox="1"/>
              <p:nvPr/>
            </p:nvSpPr>
            <p:spPr>
              <a:xfrm>
                <a:off x="2739661" y="2351569"/>
                <a:ext cx="4641113" cy="358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altLang="ko-KR" sz="16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ko-KR" sz="16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규범 지명 횟수</a:t>
                </a:r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</a:t>
                </a:r>
                <a:r>
                  <a:rPr lang="ko-KR" altLang="en-US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친구 지명 횟수</a:t>
                </a:r>
                <a:endParaRPr lang="en-US" altLang="ko-KR" sz="15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7DA6A7-1422-638F-DD48-E55DED8E0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661" y="2351569"/>
                <a:ext cx="4641113" cy="358368"/>
              </a:xfrm>
              <a:prstGeom prst="rect">
                <a:avLst/>
              </a:prstGeom>
              <a:blipFill>
                <a:blip r:embed="rId3"/>
                <a:stretch>
                  <a:fillRect b="-135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11D743-708A-5F08-45F5-C49BA8744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81257"/>
              </p:ext>
            </p:extLst>
          </p:nvPr>
        </p:nvGraphicFramePr>
        <p:xfrm>
          <a:off x="1103360" y="2990952"/>
          <a:ext cx="791371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>
                  <a:extLst>
                    <a:ext uri="{9D8B030D-6E8A-4147-A177-3AD203B41FA5}">
                      <a16:colId xmlns:a16="http://schemas.microsoft.com/office/drawing/2014/main" val="352764901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3550865043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1551769316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4136480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학생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공격 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친구 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공격 지명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*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친구 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06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07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50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65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805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423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59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63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69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84627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A5B1E7-ECD1-4594-9403-74EDD09B60EC}"/>
              </a:ext>
            </a:extLst>
          </p:cNvPr>
          <p:cNvSpPr txBox="1"/>
          <p:nvPr/>
        </p:nvSpPr>
        <p:spPr>
          <a:xfrm>
            <a:off x="549008" y="1779709"/>
            <a:ext cx="1689367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93D26-7AFF-7EB0-1779-AA51C74B6418}"/>
              </a:ext>
            </a:extLst>
          </p:cNvPr>
          <p:cNvSpPr txBox="1"/>
          <p:nvPr/>
        </p:nvSpPr>
        <p:spPr>
          <a:xfrm>
            <a:off x="549007" y="1788386"/>
            <a:ext cx="16893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규범 </a:t>
            </a:r>
            <a:r>
              <a:rPr lang="ko-KR" altLang="en-US" sz="15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원점수</a:t>
            </a:r>
            <a:endParaRPr lang="en-US" altLang="ko-KR" sz="15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760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3AB2-4E05-279E-1520-AF84CC66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0CA67E7-6B63-DAE5-E48C-B72697103101}"/>
              </a:ext>
            </a:extLst>
          </p:cNvPr>
          <p:cNvSpPr txBox="1"/>
          <p:nvPr/>
        </p:nvSpPr>
        <p:spPr>
          <a:xfrm>
            <a:off x="549008" y="1779709"/>
            <a:ext cx="1689367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FC9963-2BDA-1D3F-76C6-0E34BE3A0BFB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지명횟수를 고려한 학급 대표치 산출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A2111E-3A03-667D-465F-C2622E716EA3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DCD74-EDCC-90A4-6785-D5C868499DC7}"/>
              </a:ext>
            </a:extLst>
          </p:cNvPr>
          <p:cNvSpPr txBox="1"/>
          <p:nvPr/>
        </p:nvSpPr>
        <p:spPr>
          <a:xfrm>
            <a:off x="500177" y="830383"/>
            <a:ext cx="10521191" cy="7379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지명횟수의 경우 소수의 학생에게 몰리는 경향이 있기 때문에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Top 5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명의 평균을 산출해 가중하여 평균 계산해 학급 대표치를 산출하였습니다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3E027-E98B-782E-A2E0-16AF349A1298}"/>
              </a:ext>
            </a:extLst>
          </p:cNvPr>
          <p:cNvSpPr txBox="1"/>
          <p:nvPr/>
        </p:nvSpPr>
        <p:spPr>
          <a:xfrm>
            <a:off x="549007" y="1788386"/>
            <a:ext cx="16893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가중 평균</a:t>
            </a:r>
            <a:endParaRPr lang="en-US" altLang="ko-KR" sz="15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EB62B1D-4F18-8C76-C42B-7E6F0E832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41950"/>
              </p:ext>
            </p:extLst>
          </p:nvPr>
        </p:nvGraphicFramePr>
        <p:xfrm>
          <a:off x="1103360" y="2990952"/>
          <a:ext cx="9892145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>
                  <a:extLst>
                    <a:ext uri="{9D8B030D-6E8A-4147-A177-3AD203B41FA5}">
                      <a16:colId xmlns:a16="http://schemas.microsoft.com/office/drawing/2014/main" val="352764901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3550865043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1551769316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4136480073"/>
                    </a:ext>
                  </a:extLst>
                </a:gridCol>
                <a:gridCol w="1978429">
                  <a:extLst>
                    <a:ext uri="{9D8B030D-6E8A-4147-A177-3AD203B41FA5}">
                      <a16:colId xmlns:a16="http://schemas.microsoft.com/office/drawing/2014/main" val="2570868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학생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공격 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친구 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공격 지명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*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친구 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가중평균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06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6.75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07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50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65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805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423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59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63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69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84627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FD0D4B-1C52-775B-E088-F05977F54292}"/>
                  </a:ext>
                </a:extLst>
              </p:cNvPr>
              <p:cNvSpPr txBox="1"/>
              <p:nvPr/>
            </p:nvSpPr>
            <p:spPr>
              <a:xfrm>
                <a:off x="1371600" y="2302785"/>
                <a:ext cx="2486025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altLang="ko-KR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altLang="ko-KR" i="0" dirty="0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̅"/>
                          <m:ctrlPr>
                            <a:rPr lang="en-US" altLang="ko-KR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FD0D4B-1C52-775B-E088-F05977F54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302785"/>
                <a:ext cx="2486025" cy="39074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A24E58-F308-2D63-6822-0A62D211B980}"/>
                  </a:ext>
                </a:extLst>
              </p:cNvPr>
              <p:cNvSpPr txBox="1"/>
              <p:nvPr/>
            </p:nvSpPr>
            <p:spPr>
              <a:xfrm>
                <a:off x="3596911" y="2351569"/>
                <a:ext cx="4641113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𝑡𝑜𝑝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상위 </a:t>
                </a:r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5</a:t>
                </a:r>
                <a:r>
                  <a:rPr lang="ko-KR" altLang="en-US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명 학생의 평균 점수</a:t>
                </a:r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0" dirty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</a:t>
                </a:r>
                <a:r>
                  <a:rPr lang="ko-KR" altLang="en-US" sz="15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학급 전체 평균 점수</a:t>
                </a:r>
                <a:endParaRPr lang="en-US" altLang="ko-KR" sz="15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A24E58-F308-2D63-6822-0A62D211B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911" y="2351569"/>
                <a:ext cx="4641113" cy="362984"/>
              </a:xfrm>
              <a:prstGeom prst="rect">
                <a:avLst/>
              </a:prstGeom>
              <a:blipFill>
                <a:blip r:embed="rId3"/>
                <a:stretch>
                  <a:fillRect b="-135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56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C27D-3B5B-C69B-B78B-6EBDCF14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64523B9-6F8A-2E7D-1554-DE6A171898A2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1-5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점 정규화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9D4194-89CC-C91A-EF7D-41EAEAFDD032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B6D4D-7BE1-53F5-9905-5DE2E9ADDB68}"/>
              </a:ext>
            </a:extLst>
          </p:cNvPr>
          <p:cNvSpPr txBox="1"/>
          <p:nvPr/>
        </p:nvSpPr>
        <p:spPr>
          <a:xfrm>
            <a:off x="500177" y="828466"/>
            <a:ext cx="10872672" cy="7379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학급별 절대적인 위치 정보를 제공하면서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리포트에 명확하게 제공되기 위해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1-5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 정규화를 진행하였고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공유해주신 현장 데이터를 기반으로 탐색했습니다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C685C2-8C99-CF8C-9994-8C718496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88" y="1785938"/>
            <a:ext cx="9391650" cy="498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B1BA-EBCB-655D-1DB6-162940C4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8E582D-07CF-93B6-E67C-2DE7850A7400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1-5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점 정규화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2E2018-8B0C-91FE-DFAC-D0027F29B2C7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804D07-CB0A-C8D2-4310-3E02EF082BF5}"/>
              </a:ext>
            </a:extLst>
          </p:cNvPr>
          <p:cNvSpPr txBox="1"/>
          <p:nvPr/>
        </p:nvSpPr>
        <p:spPr>
          <a:xfrm>
            <a:off x="500177" y="828466"/>
            <a:ext cx="11283836" cy="7379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송수초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5-2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반 최대 가중평균 점수를 고려해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MinMax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설정하여 정규화 하였습니다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아래와 같이 학급별로 규범 점수가 산출되며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자세한 비교는 다음장부터 제시되는 학급별 분포와 함께 검토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365177-D16E-AFDB-553B-B2ECB83C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3" y="1738313"/>
            <a:ext cx="9348788" cy="497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7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7DDD-64F8-E767-B028-8254D929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9BA8E0-51B0-BED6-EE40-F3B5F26DCF1E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D98202-59F2-DC5E-9D47-DE559A3170F8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6D51B-DBC6-3314-CD83-C55649967D41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6B2181-DC8B-617C-6D35-C68BEB97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28825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4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F94B-B4DD-EAB6-4356-7621C8C22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38272F8-8A01-7B6B-CACF-DF8E6CA93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28825"/>
            <a:ext cx="10858500" cy="33337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5CEC71E-DD91-1F53-2022-F1638398A8BA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636374-C4A2-F131-FBE6-CEBBE1060A4A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79B54-BBD6-34C3-3734-76E316CE0083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463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587B4-ADEF-5979-2D48-8F6085C6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FFAF86-4723-7D73-86FF-6EEF77E71163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B8C233-150D-00DC-0A49-F59AC3511B47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C510B-583A-6B5F-65EA-1A3EC3D9063A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D72400-3714-72D4-174F-32BF84734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85975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6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D94F-04CF-027A-ABEF-C4DAC068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0C8C59-4482-01E8-FAB4-E1818339E316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62ADB7-E2F5-37A2-D5F9-A12257476A28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18DD0-455A-AB0F-877D-193A29521D58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891774-1A12-F704-ACD5-5B130107F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19300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88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A722-BD5B-9757-BEE9-C43B43AD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372F85-9F62-796C-59F4-3CBC803D9DB0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6A80DA-8960-94F7-77CC-FB504A8AC46B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C13D2-105B-AAE5-5F28-A498D66CE78D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053BC9-DBBB-3ED6-FC99-B2D15E6A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28825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5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985E-4BA6-A7FB-2B40-98A6CF88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5861523-307C-CF02-9237-561E4CFC9F3F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7A45EB-9D93-09B1-E8A6-60021C06D94F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D6687-8F9B-9460-F5F4-2211A390A197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4E4234-4500-554E-1F50-CF3CF3109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95500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4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99A98-BCA5-EC9B-991F-F32D9982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072EA49-65CD-2A34-6E5A-AD0F3BAE27EB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90E8DB-9B3A-78B9-FD6C-5208A17D2C44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6DE32-2D37-063C-05DB-8B67D73370A4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E42807-FF2B-9D70-AA33-9D535E545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133600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1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D100-6D98-54B3-3225-F0B589C94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DD7980-52D4-578B-4038-0E7897574EE9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34F096-FEF0-DD4C-2904-55DB15A5B402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8E6E8-69B6-09CA-5F47-6FCB92D8A9D3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867F5E-6307-FA59-855C-0335C68DE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19300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4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B277-C8ED-2EA5-6E14-4C92B821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91E47F-0134-B698-73B9-A473AF456B9F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CFDE62-4E52-D9CF-022F-DD5E216C6212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EC6F2-CDD3-59AA-859A-DD15683E7D13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E06E60-EF79-F044-913B-137D48E44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105025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5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AE76-51B7-5BB4-1B69-EBAD733F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CA5E9D-F2D8-0BB0-FF5F-A9FCCF3EBEBF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참고 자료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10E852-CFC8-0959-C0BE-29C92AC66714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02313-0F26-A615-924F-63F46AAA2906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공격성 지명 횟수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 지명 횟수 학급별 분포로 로직 검토하실 때 참고 부탁드립니다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0D31A3-339A-41AF-8FC7-89A755A2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105025"/>
            <a:ext cx="1085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3950</TotalTime>
  <Words>638</Words>
  <Application>Microsoft Office PowerPoint</Application>
  <PresentationFormat>와이드스크린</PresentationFormat>
  <Paragraphs>145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나눔스퀘어</vt:lpstr>
      <vt:lpstr>나눔스퀘어 ExtraBold</vt:lpstr>
      <vt:lpstr>맑은 고딕</vt:lpstr>
      <vt:lpstr>Arial</vt:lpstr>
      <vt:lpstr>Cambria Math</vt:lpstr>
      <vt:lpstr>Office 테마</vt:lpstr>
      <vt:lpstr>규범 로직 검증 및 대안 탐색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부유민</dc:creator>
  <cp:lastModifiedBy>부유민</cp:lastModifiedBy>
  <cp:revision>8</cp:revision>
  <cp:lastPrinted>2025-05-22T05:51:09Z</cp:lastPrinted>
  <dcterms:created xsi:type="dcterms:W3CDTF">2025-04-23T07:09:47Z</dcterms:created>
  <dcterms:modified xsi:type="dcterms:W3CDTF">2025-05-23T08:59:48Z</dcterms:modified>
</cp:coreProperties>
</file>